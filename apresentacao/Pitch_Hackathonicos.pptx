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68" r:id="rId6"/>
    <p:sldId id="259" r:id="rId7"/>
    <p:sldId id="261" r:id="rId8"/>
    <p:sldId id="262" r:id="rId9"/>
    <p:sldId id="260" r:id="rId10"/>
    <p:sldId id="263" r:id="rId11"/>
    <p:sldId id="264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402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Headline: crescer em marketplaces não precisa virar caos.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Gancho: mostrar a dor do lojista de forma simples e apresentar o Taylor como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Problemas levantados na dor 2 do hackathon. Sem estatísticas de mercado inventadas.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valor: funcionalidade -&gt; benefício. IA e Telegram estão planejados (amarelo).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Experiência do lojista. Chat do MVP com respostas fixas; assistente inteligente planejado.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de procurar. Pergunte. Chat do MVP com respostas de exemplo; voz e Telegram planejados. Número 12 vem do dashboard de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ao vivo do Taylor.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documentados como elementos do MVP; não são receita real. Sem CAC, LTV ou MRR.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baseado no escopo e nos itens planejados da documentação. Sem promessas de prazo.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 CTA. Substituir o placeholder por QR Code ou contato.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71600"/>
            <a:ext cx="73152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6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Vocês sofrem com despadronização de cadastro, layout e ingerência de lojas online?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737360"/>
            <a:ext cx="1005840" cy="1005840"/>
          </a:xfrm>
          <a:prstGeom prst="rect">
            <a:avLst/>
          </a:prstGeom>
        </p:spPr>
      </p:pic>
      <p:sp>
        <p:nvSpPr>
          <p:cNvPr id="202" name="Text 0"/>
          <p:cNvSpPr txBox="1"/>
          <p:nvPr/>
        </p:nvSpPr>
        <p:spPr>
          <a:xfrm>
            <a:off x="431620" y="288036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2800" dirty="0"/>
          </a:p>
        </p:txBody>
      </p:sp>
      <p:sp>
        <p:nvSpPr>
          <p:cNvPr id="203" name="Shape 37"/>
          <p:cNvSpPr/>
          <p:nvPr/>
        </p:nvSpPr>
        <p:spPr>
          <a:xfrm>
            <a:off x="2944368" y="1392804"/>
            <a:ext cx="2251040" cy="1454678"/>
          </a:xfrm>
          <a:prstGeom prst="roundRect">
            <a:avLst>
              <a:gd name="adj" fmla="val 4969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4" name="Image 1" descr="asset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420236"/>
            <a:ext cx="2196176" cy="1399814"/>
          </a:xfrm>
          <a:prstGeom prst="rect">
            <a:avLst/>
          </a:prstGeom>
        </p:spPr>
      </p:pic>
      <p:sp>
        <p:nvSpPr>
          <p:cNvPr id="205" name="Shape 39"/>
          <p:cNvSpPr/>
          <p:nvPr/>
        </p:nvSpPr>
        <p:spPr>
          <a:xfrm>
            <a:off x="5277704" y="1392804"/>
            <a:ext cx="1687155" cy="1454678"/>
          </a:xfrm>
          <a:prstGeom prst="roundRect">
            <a:avLst>
              <a:gd name="adj" fmla="val 4969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6" name="Image 2" descr="assets/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5136" y="1420236"/>
            <a:ext cx="1632291" cy="1399814"/>
          </a:xfrm>
          <a:prstGeom prst="rect">
            <a:avLst/>
          </a:prstGeom>
        </p:spPr>
      </p:pic>
      <p:sp>
        <p:nvSpPr>
          <p:cNvPr id="207" name="Shape 41"/>
          <p:cNvSpPr/>
          <p:nvPr/>
        </p:nvSpPr>
        <p:spPr>
          <a:xfrm>
            <a:off x="7047155" y="1392804"/>
            <a:ext cx="1687155" cy="1454678"/>
          </a:xfrm>
          <a:prstGeom prst="roundRect">
            <a:avLst>
              <a:gd name="adj" fmla="val 4969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8" name="Image 3" descr="assets/ale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4587" y="1420236"/>
            <a:ext cx="1632291" cy="1399814"/>
          </a:xfrm>
          <a:prstGeom prst="rect">
            <a:avLst/>
          </a:prstGeom>
        </p:spPr>
      </p:pic>
      <p:sp>
        <p:nvSpPr>
          <p:cNvPr id="209" name="Shape 43"/>
          <p:cNvSpPr/>
          <p:nvPr/>
        </p:nvSpPr>
        <p:spPr>
          <a:xfrm>
            <a:off x="2944368" y="2929778"/>
            <a:ext cx="5815584" cy="820917"/>
          </a:xfrm>
          <a:prstGeom prst="roundRect">
            <a:avLst>
              <a:gd name="adj" fmla="val 8184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0" name="Image 4" descr="assets/channe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00" y="2957210"/>
            <a:ext cx="5760720" cy="766053"/>
          </a:xfrm>
          <a:prstGeom prst="rect">
            <a:avLst/>
          </a:prstGeom>
        </p:spPr>
      </p:pic>
      <p:sp>
        <p:nvSpPr>
          <p:cNvPr id="401" name="Shape 401"/>
          <p:cNvSpPr/>
          <p:nvPr/>
        </p:nvSpPr>
        <p:spPr>
          <a:xfrm>
            <a:off x="411480" y="4114800"/>
            <a:ext cx="8321040" cy="502920"/>
          </a:xfrm>
          <a:prstGeom prst="roundRect">
            <a:avLst>
              <a:gd name="adj" fmla="val 24000"/>
            </a:avLst>
          </a:prstGeom>
          <a:solidFill>
            <a:srgbClr val="236BFF"/>
          </a:solidFill>
          <a:ln w="9525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2" name="Text 402"/>
          <p:cNvSpPr txBox="1"/>
          <p:nvPr/>
        </p:nvSpPr>
        <p:spPr>
          <a:xfrm>
            <a:off x="411480" y="41148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o nome Taylor?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 ALVO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987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Vendedores e lojistas de pequeno porte</a:t>
            </a:r>
            <a:endParaRPr lang="en-US" sz="2800" dirty="0"/>
          </a:p>
        </p:txBody>
      </p:sp>
      <p:sp>
        <p:nvSpPr>
          <p:cNvPr id="301" name="Shape 301"/>
          <p:cNvSpPr/>
          <p:nvPr/>
        </p:nvSpPr>
        <p:spPr>
          <a:xfrm>
            <a:off x="411480" y="1645920"/>
            <a:ext cx="8321040" cy="2651760"/>
          </a:xfrm>
          <a:prstGeom prst="roundRect">
            <a:avLst>
              <a:gd name="adj" fmla="val 4000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2" name="Text 302"/>
          <p:cNvSpPr txBox="1"/>
          <p:nvPr/>
        </p:nvSpPr>
        <p:spPr>
          <a:xfrm>
            <a:off x="411480" y="1874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 público representa, no mercado, aproximadamente</a:t>
            </a:r>
          </a:p>
        </p:txBody>
      </p:sp>
      <p:sp>
        <p:nvSpPr>
          <p:cNvPr id="303" name="Text 303"/>
          <p:cNvSpPr txBox="1"/>
          <p:nvPr/>
        </p:nvSpPr>
        <p:spPr>
          <a:xfrm>
            <a:off x="411480" y="22402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5400" b="1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R$ 81,90 bilhões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411480" y="3291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faturamento anual</a:t>
            </a:r>
          </a:p>
        </p:txBody>
      </p:sp>
      <p:sp>
        <p:nvSpPr>
          <p:cNvPr id="305" name="Text 305"/>
          <p:cNvSpPr txBox="1"/>
          <p:nvPr/>
        </p:nvSpPr>
        <p:spPr>
          <a:xfrm>
            <a:off x="411480" y="3703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 partir de duas lojas online)</a:t>
            </a:r>
          </a:p>
        </p:txBody>
      </p:sp>
      <p:sp>
        <p:nvSpPr>
          <p:cNvPr id="306" name="Text 306"/>
          <p:cNvSpPr txBox="1"/>
          <p:nvPr/>
        </p:nvSpPr>
        <p:spPr>
          <a:xfrm>
            <a:off x="411480" y="45262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0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Revistas Exame e IstoÉ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1000" dirty="0"/>
          </a:p>
        </p:txBody>
      </p:sp>
      <p:sp>
        <p:nvSpPr>
          <p:cNvPr id="101" name="Text 101"/>
          <p:cNvSpPr txBox="1"/>
          <p:nvPr/>
        </p:nvSpPr>
        <p:spPr>
          <a:xfrm>
            <a:off x="411480" y="7772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DOR VALIDADA PELO MERCADO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411480" y="987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ineficiência operacional corrói o faturamento do lojista.</a:t>
            </a:r>
          </a:p>
        </p:txBody>
      </p:sp>
      <p:sp>
        <p:nvSpPr>
          <p:cNvPr id="103" name="Shape 103"/>
          <p:cNvSpPr/>
          <p:nvPr/>
        </p:nvSpPr>
        <p:spPr>
          <a:xfrm>
            <a:off x="411480" y="1737360"/>
            <a:ext cx="2651760" cy="2834640"/>
          </a:xfrm>
          <a:prstGeom prst="roundRect">
            <a:avLst>
              <a:gd name="adj" fmla="val 6667"/>
            </a:avLst>
          </a:prstGeom>
          <a:solidFill>
            <a:srgbClr val="0D2B5D"/>
          </a:solidFill>
          <a:ln w="9525">
            <a:solidFill>
              <a:srgbClr val="FF567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104"/>
          <p:cNvSpPr/>
          <p:nvPr/>
        </p:nvSpPr>
        <p:spPr>
          <a:xfrm>
            <a:off x="594360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567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Text 105"/>
          <p:cNvSpPr txBox="1"/>
          <p:nvPr/>
        </p:nvSpPr>
        <p:spPr>
          <a:xfrm>
            <a:off x="5943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71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</a:p>
        </p:txBody>
      </p:sp>
      <p:sp>
        <p:nvSpPr>
          <p:cNvPr id="106" name="Shape 106"/>
          <p:cNvSpPr/>
          <p:nvPr/>
        </p:nvSpPr>
        <p:spPr>
          <a:xfrm>
            <a:off x="1051560" y="1984248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71A3D"/>
          </a:solidFill>
          <a:ln w="9525">
            <a:solidFill>
              <a:srgbClr val="27467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7" name="Text 107"/>
          <p:cNvSpPr txBox="1"/>
          <p:nvPr/>
        </p:nvSpPr>
        <p:spPr>
          <a:xfrm>
            <a:off x="1051560" y="1984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75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EQI · LETT E ABCOMM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59436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Despadronização e Retrabalho</a:t>
            </a:r>
          </a:p>
        </p:txBody>
      </p:sp>
      <p:sp>
        <p:nvSpPr>
          <p:cNvPr id="109" name="Shape 109"/>
          <p:cNvSpPr/>
          <p:nvPr/>
        </p:nvSpPr>
        <p:spPr>
          <a:xfrm>
            <a:off x="594360" y="2971800"/>
            <a:ext cx="365760" cy="27432"/>
          </a:xfrm>
          <a:prstGeom prst="rect">
            <a:avLst/>
          </a:prstGeom>
          <a:solidFill>
            <a:srgbClr val="FF567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Text 110"/>
          <p:cNvSpPr txBox="1"/>
          <p:nvPr/>
        </p:nvSpPr>
        <p:spPr>
          <a:xfrm>
            <a:off x="59436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b="1" dirty="0">
                <a:solidFill>
                  <a:srgbClr val="FF5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r>
              <a:rPr lang="pt-BR" sz="1050" dirty="0">
                <a:solidFill>
                  <a:srgbClr val="D3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das lojas oferecem má experiência devido à falta de padronização. Lidar com interfaces diferentes exige atualizações manuais repetitivas de preços e cadastros.</a:t>
            </a:r>
          </a:p>
        </p:txBody>
      </p:sp>
      <p:sp>
        <p:nvSpPr>
          <p:cNvPr id="111" name="Shape 111"/>
          <p:cNvSpPr/>
          <p:nvPr/>
        </p:nvSpPr>
        <p:spPr>
          <a:xfrm>
            <a:off x="3246120" y="1737360"/>
            <a:ext cx="2651760" cy="2834640"/>
          </a:xfrm>
          <a:prstGeom prst="roundRect">
            <a:avLst>
              <a:gd name="adj" fmla="val 6667"/>
            </a:avLst>
          </a:prstGeom>
          <a:solidFill>
            <a:srgbClr val="0D2B5D"/>
          </a:solidFill>
          <a:ln w="9525">
            <a:solidFill>
              <a:srgbClr val="FFB64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2" name="Shape 112"/>
          <p:cNvSpPr/>
          <p:nvPr/>
        </p:nvSpPr>
        <p:spPr>
          <a:xfrm>
            <a:off x="3429000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FB64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3" name="Text 113"/>
          <p:cNvSpPr txBox="1"/>
          <p:nvPr/>
        </p:nvSpPr>
        <p:spPr>
          <a:xfrm>
            <a:off x="34290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71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</a:p>
        </p:txBody>
      </p:sp>
      <p:sp>
        <p:nvSpPr>
          <p:cNvPr id="114" name="Shape 114"/>
          <p:cNvSpPr/>
          <p:nvPr/>
        </p:nvSpPr>
        <p:spPr>
          <a:xfrm>
            <a:off x="3886200" y="1984248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71A3D"/>
          </a:solidFill>
          <a:ln w="9525">
            <a:solidFill>
              <a:srgbClr val="27467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5"/>
          <p:cNvSpPr txBox="1"/>
          <p:nvPr/>
        </p:nvSpPr>
        <p:spPr>
          <a:xfrm>
            <a:off x="3886200" y="1984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75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SEBRAE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342900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Ruptura de Estoque</a:t>
            </a:r>
          </a:p>
        </p:txBody>
      </p:sp>
      <p:sp>
        <p:nvSpPr>
          <p:cNvPr id="117" name="Shape 117"/>
          <p:cNvSpPr/>
          <p:nvPr/>
        </p:nvSpPr>
        <p:spPr>
          <a:xfrm>
            <a:off x="3429000" y="2971800"/>
            <a:ext cx="365760" cy="27432"/>
          </a:xfrm>
          <a:prstGeom prst="rect">
            <a:avLst/>
          </a:prstGeom>
          <a:solidFill>
            <a:srgbClr val="FFB64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8"/>
          <p:cNvSpPr txBox="1"/>
          <p:nvPr/>
        </p:nvSpPr>
        <p:spPr>
          <a:xfrm>
            <a:off x="342900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dirty="0">
                <a:solidFill>
                  <a:srgbClr val="D3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divergência de inventário entre canais é o </a:t>
            </a:r>
            <a:r>
              <a:rPr lang="pt-BR" sz="105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maior ofensor da margem de lucro</a:t>
            </a:r>
            <a:r>
              <a:rPr lang="pt-BR" sz="1050" dirty="0">
                <a:solidFill>
                  <a:srgbClr val="D3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falta de sincronia gera vendas de produtos esgotados, resultando em cancelamentos e punições nas plataformas.</a:t>
            </a:r>
          </a:p>
        </p:txBody>
      </p:sp>
      <p:sp>
        <p:nvSpPr>
          <p:cNvPr id="119" name="Shape 119"/>
          <p:cNvSpPr/>
          <p:nvPr/>
        </p:nvSpPr>
        <p:spPr>
          <a:xfrm>
            <a:off x="6080760" y="1737360"/>
            <a:ext cx="2651760" cy="2834640"/>
          </a:xfrm>
          <a:prstGeom prst="roundRect">
            <a:avLst>
              <a:gd name="adj" fmla="val 6667"/>
            </a:avLst>
          </a:prstGeom>
          <a:solidFill>
            <a:srgbClr val="0D2B5D"/>
          </a:solidFill>
          <a:ln w="9525">
            <a:solidFill>
              <a:srgbClr val="4C8D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0" name="Shape 120"/>
          <p:cNvSpPr/>
          <p:nvPr/>
        </p:nvSpPr>
        <p:spPr>
          <a:xfrm>
            <a:off x="6263640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4C8D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1" name="Text 121"/>
          <p:cNvSpPr txBox="1"/>
          <p:nvPr/>
        </p:nvSpPr>
        <p:spPr>
          <a:xfrm>
            <a:off x="6263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71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</a:p>
        </p:txBody>
      </p:sp>
      <p:sp>
        <p:nvSpPr>
          <p:cNvPr id="122" name="Shape 122"/>
          <p:cNvSpPr/>
          <p:nvPr/>
        </p:nvSpPr>
        <p:spPr>
          <a:xfrm>
            <a:off x="6720840" y="1984248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71A3D"/>
          </a:solidFill>
          <a:ln w="9525">
            <a:solidFill>
              <a:srgbClr val="27467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3" name="Text 123"/>
          <p:cNvSpPr txBox="1"/>
          <p:nvPr/>
        </p:nvSpPr>
        <p:spPr>
          <a:xfrm>
            <a:off x="6720840" y="1984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75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FECOMERCIOSP · SBVC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62636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Cegueira Operacional</a:t>
            </a:r>
          </a:p>
        </p:txBody>
      </p:sp>
      <p:sp>
        <p:nvSpPr>
          <p:cNvPr id="125" name="Shape 125"/>
          <p:cNvSpPr/>
          <p:nvPr/>
        </p:nvSpPr>
        <p:spPr>
          <a:xfrm>
            <a:off x="6263640" y="2971800"/>
            <a:ext cx="365760" cy="27432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Text 126"/>
          <p:cNvSpPr txBox="1"/>
          <p:nvPr/>
        </p:nvSpPr>
        <p:spPr>
          <a:xfrm>
            <a:off x="6263640" y="3108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0"/>
              </a:spcAft>
              <a:buNone/>
            </a:pPr>
            <a:r>
              <a:rPr lang="pt-BR" sz="1050" dirty="0">
                <a:solidFill>
                  <a:srgbClr val="D3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descentralização de pedidos </a:t>
            </a:r>
            <a:r>
              <a:rPr lang="pt-BR" sz="1050" b="1" dirty="0">
                <a:solidFill>
                  <a:srgbClr val="4C8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impede a análise do lucro real</a:t>
            </a:r>
            <a:r>
              <a:rPr lang="pt-BR" sz="1050" dirty="0">
                <a:solidFill>
                  <a:srgbClr val="D3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vendedor fica exposto a um alto risco de erros e inconsistências no momento de faturar e despachar.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1000" dirty="0"/>
          </a:p>
        </p:txBody>
      </p:sp>
      <p:sp>
        <p:nvSpPr>
          <p:cNvPr id="127" name="Text 127"/>
          <p:cNvSpPr txBox="1"/>
          <p:nvPr/>
        </p:nvSpPr>
        <p:spPr>
          <a:xfrm>
            <a:off x="411480" y="7772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SOMOS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411480" y="987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26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time por trás do Taylor.</a:t>
            </a:r>
          </a:p>
        </p:txBody>
      </p:sp>
      <p:pic>
        <p:nvPicPr>
          <p:cNvPr id="129" name="Foto da equip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1645920"/>
            <a:ext cx="5120640" cy="2880360"/>
          </a:xfrm>
          <a:prstGeom prst="roundRect">
            <a:avLst>
              <a:gd name="adj" fmla="val 4000"/>
            </a:avLst>
          </a:prstGeom>
          <a:ln w="9525">
            <a:solidFill>
              <a:srgbClr val="27467F"/>
            </a:solidFill>
          </a:ln>
        </p:spPr>
      </p:pic>
      <p:sp>
        <p:nvSpPr>
          <p:cNvPr id="130" name="Shape 130"/>
          <p:cNvSpPr/>
          <p:nvPr/>
        </p:nvSpPr>
        <p:spPr>
          <a:xfrm>
            <a:off x="5760720" y="1645920"/>
            <a:ext cx="2971800" cy="2880360"/>
          </a:xfrm>
          <a:prstGeom prst="roundRect">
            <a:avLst>
              <a:gd name="adj" fmla="val 6667"/>
            </a:avLst>
          </a:prstGeom>
          <a:solidFill>
            <a:srgbClr val="0B244D"/>
          </a:solidFill>
          <a:ln w="9525">
            <a:solidFill>
              <a:srgbClr val="27467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1" name="Text 131"/>
          <p:cNvSpPr txBox="1"/>
          <p:nvPr/>
        </p:nvSpPr>
        <p:spPr>
          <a:xfrm>
            <a:off x="5943600" y="190265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pt-BR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TIME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5943600" y="2431952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HACKATHONICOS</a:t>
            </a:r>
            <a:br>
              <a:rPr lang="en-US" sz="2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</a:br>
            <a:br>
              <a:rPr lang="en-US" sz="2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</a:b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Onde </a:t>
            </a:r>
            <a:r>
              <a:rPr lang="en-US" b="1" dirty="0" err="1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ideias</a:t>
            </a: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b="1" dirty="0" err="1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viram</a:t>
            </a: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b="1" dirty="0" err="1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códigos</a:t>
            </a: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 e </a:t>
            </a:r>
            <a:r>
              <a:rPr lang="en-US" b="1" dirty="0" err="1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códigos</a:t>
            </a: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b="1" dirty="0" err="1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viram</a:t>
            </a: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b="1" dirty="0" err="1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solução</a:t>
            </a:r>
            <a:r>
              <a:rPr lang="en-US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987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único lugar para operar todos os canais.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3566160" cy="2560320"/>
          </a:xfrm>
          <a:prstGeom prst="ellipse">
            <a:avLst/>
          </a:prstGeom>
          <a:solidFill>
            <a:srgbClr val="236BFF">
              <a:alpha val="7000"/>
            </a:srgbClr>
          </a:solidFill>
          <a:ln w="6350">
            <a:solidFill>
              <a:srgbClr val="B9DE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 flipV="1">
            <a:off x="2331720" y="1920240"/>
            <a:ext cx="0" cy="1280160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2148840" y="17373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5D33B"/>
          </a:solidFill>
          <a:ln w="6350">
            <a:solidFill>
              <a:srgbClr val="F5D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2148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71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112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103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 Livre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 flipV="1">
            <a:off x="2331720" y="2219741"/>
            <a:ext cx="1146142" cy="980659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294982" y="2036861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0525F"/>
          </a:solidFill>
          <a:ln w="6350">
            <a:solidFill>
              <a:srgbClr val="F052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3294982" y="203686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120" dirty="0"/>
          </a:p>
        </p:txBody>
      </p:sp>
      <p:sp>
        <p:nvSpPr>
          <p:cNvPr id="15" name="Text 12"/>
          <p:cNvSpPr txBox="1"/>
          <p:nvPr/>
        </p:nvSpPr>
        <p:spPr>
          <a:xfrm>
            <a:off x="2929222" y="240262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Shopee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 flipV="1">
            <a:off x="2331720" y="2978103"/>
            <a:ext cx="1755991" cy="222297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3904831" y="2795223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B4FF0"/>
          </a:solidFill>
          <a:ln w="6350">
            <a:solidFill>
              <a:srgbClr val="1B4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3904831" y="27952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120" dirty="0"/>
          </a:p>
        </p:txBody>
      </p:sp>
      <p:sp>
        <p:nvSpPr>
          <p:cNvPr id="19" name="Text 16"/>
          <p:cNvSpPr txBox="1"/>
          <p:nvPr/>
        </p:nvSpPr>
        <p:spPr>
          <a:xfrm>
            <a:off x="3539071" y="3160983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Magalu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331720" y="3200400"/>
            <a:ext cx="1544193" cy="640080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3491865" y="3685032"/>
            <a:ext cx="768096" cy="310896"/>
          </a:xfrm>
          <a:prstGeom prst="roundRect">
            <a:avLst>
              <a:gd name="adj" fmla="val 2941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3491865" y="368503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331720" y="3200400"/>
            <a:ext cx="609849" cy="1202957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2557521" y="4247909"/>
            <a:ext cx="768096" cy="310896"/>
          </a:xfrm>
          <a:prstGeom prst="roundRect">
            <a:avLst>
              <a:gd name="adj" fmla="val 2941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 txBox="1"/>
          <p:nvPr/>
        </p:nvSpPr>
        <p:spPr>
          <a:xfrm>
            <a:off x="2557521" y="4247909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 flipH="1">
            <a:off x="1721871" y="3200400"/>
            <a:ext cx="609849" cy="1202957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1337823" y="4247909"/>
            <a:ext cx="768096" cy="310896"/>
          </a:xfrm>
          <a:prstGeom prst="roundRect">
            <a:avLst>
              <a:gd name="adj" fmla="val 2941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 txBox="1"/>
          <p:nvPr/>
        </p:nvSpPr>
        <p:spPr>
          <a:xfrm>
            <a:off x="1337823" y="4247909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 flipH="1">
            <a:off x="787527" y="3200400"/>
            <a:ext cx="1544193" cy="640080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403479" y="3685032"/>
            <a:ext cx="768096" cy="310896"/>
          </a:xfrm>
          <a:prstGeom prst="roundRect">
            <a:avLst>
              <a:gd name="adj" fmla="val 2941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 txBox="1"/>
          <p:nvPr/>
        </p:nvSpPr>
        <p:spPr>
          <a:xfrm>
            <a:off x="403479" y="368503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Fiscal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 flipH="1" flipV="1">
            <a:off x="575729" y="2978103"/>
            <a:ext cx="1755991" cy="222297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191681" y="2822655"/>
            <a:ext cx="768096" cy="310896"/>
          </a:xfrm>
          <a:prstGeom prst="roundRect">
            <a:avLst>
              <a:gd name="adj" fmla="val 29412"/>
            </a:avLst>
          </a:prstGeom>
          <a:solidFill>
            <a:srgbClr val="061631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 txBox="1"/>
          <p:nvPr/>
        </p:nvSpPr>
        <p:spPr>
          <a:xfrm>
            <a:off x="191681" y="2822655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 flipH="1" flipV="1">
            <a:off x="1185578" y="2219741"/>
            <a:ext cx="1146142" cy="980659"/>
          </a:xfrm>
          <a:prstGeom prst="line">
            <a:avLst/>
          </a:prstGeom>
          <a:noFill/>
          <a:ln w="9525">
            <a:solidFill>
              <a:srgbClr val="B9DE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801530" y="2064293"/>
            <a:ext cx="768096" cy="310896"/>
          </a:xfrm>
          <a:prstGeom prst="roundRect">
            <a:avLst>
              <a:gd name="adj" fmla="val 29412"/>
            </a:avLst>
          </a:prstGeom>
          <a:solidFill>
            <a:srgbClr val="061631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 txBox="1"/>
          <p:nvPr/>
        </p:nvSpPr>
        <p:spPr>
          <a:xfrm>
            <a:off x="801530" y="2064293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1874520" y="27432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061631"/>
          </a:solidFill>
          <a:ln w="19050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 1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2871216"/>
            <a:ext cx="658368" cy="658368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448056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DE OPERAÇÃO MULTICANAL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480560" y="196596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236BFF"/>
          </a:solidFill>
          <a:ln w="12700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8"/>
          <p:cNvSpPr txBox="1"/>
          <p:nvPr/>
        </p:nvSpPr>
        <p:spPr>
          <a:xfrm>
            <a:off x="46634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junto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65836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canais em um só lugar.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4480560" y="253288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36DB9B"/>
          </a:solidFill>
          <a:ln w="12700">
            <a:solidFill>
              <a:srgbClr val="36DB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1"/>
          <p:cNvSpPr txBox="1"/>
          <p:nvPr/>
        </p:nvSpPr>
        <p:spPr>
          <a:xfrm>
            <a:off x="466344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Estoque em dia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6583680" y="2532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Evite vender o que já acabou.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480560" y="3099816"/>
            <a:ext cx="73152" cy="457200"/>
          </a:xfrm>
          <a:prstGeom prst="roundRect">
            <a:avLst>
              <a:gd name="adj" fmla="val 50000"/>
            </a:avLst>
          </a:prstGeom>
          <a:solidFill>
            <a:srgbClr val="236BFF"/>
          </a:solidFill>
          <a:ln w="12700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4"/>
          <p:cNvSpPr txBox="1"/>
          <p:nvPr/>
        </p:nvSpPr>
        <p:spPr>
          <a:xfrm>
            <a:off x="4663440" y="3099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única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6583680" y="3099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operação inteira em uma tela.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4480560" y="3666744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FB648"/>
          </a:solidFill>
          <a:ln w="12700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7"/>
          <p:cNvSpPr txBox="1"/>
          <p:nvPr/>
        </p:nvSpPr>
        <p:spPr>
          <a:xfrm>
            <a:off x="4663440" y="3666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retrabalho</a:t>
            </a:r>
            <a:endParaRPr lang="en-US" sz="1300" dirty="0"/>
          </a:p>
        </p:txBody>
      </p:sp>
      <p:sp>
        <p:nvSpPr>
          <p:cNvPr id="52" name="Text 48"/>
          <p:cNvSpPr txBox="1"/>
          <p:nvPr/>
        </p:nvSpPr>
        <p:spPr>
          <a:xfrm>
            <a:off x="6583680" y="3666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tarefas repetidas.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4480560" y="423367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3F35F5"/>
          </a:solidFill>
          <a:ln w="12700">
            <a:solidFill>
              <a:srgbClr val="3F3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0"/>
          <p:cNvSpPr txBox="1"/>
          <p:nvPr/>
        </p:nvSpPr>
        <p:spPr>
          <a:xfrm>
            <a:off x="4663440" y="4233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</a:t>
            </a:r>
            <a:endParaRPr lang="en-US" sz="1300" dirty="0"/>
          </a:p>
        </p:txBody>
      </p:sp>
      <p:sp>
        <p:nvSpPr>
          <p:cNvPr id="55" name="Text 51"/>
          <p:cNvSpPr txBox="1"/>
          <p:nvPr/>
        </p:nvSpPr>
        <p:spPr>
          <a:xfrm>
            <a:off x="6583680" y="4233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assistente responde por você.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411480" y="4754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Amarelo = em breve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 TAYLOR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basta mostrar os dados.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4630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Taylor ajuda você a entendê-los.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468880" y="2057400"/>
            <a:ext cx="3017520" cy="384048"/>
          </a:xfrm>
          <a:prstGeom prst="roundRect">
            <a:avLst>
              <a:gd name="adj" fmla="val 33333"/>
            </a:avLst>
          </a:prstGeom>
          <a:solidFill>
            <a:srgbClr val="236BFF"/>
          </a:solidFill>
          <a:ln w="9525">
            <a:solidFill>
              <a:srgbClr val="B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260604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está minha loja hoje?</a:t>
            </a:r>
            <a:endParaRPr lang="en-US" sz="1200" dirty="0"/>
          </a:p>
        </p:txBody>
      </p:sp>
      <p:pic>
        <p:nvPicPr>
          <p:cNvPr id="10" name="Image 1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79192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68680" y="2532888"/>
            <a:ext cx="3657600" cy="658368"/>
          </a:xfrm>
          <a:prstGeom prst="roundRect">
            <a:avLst>
              <a:gd name="adj" fmla="val 19444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1005840" y="25328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Suas vendas estão crescendo, mas existem produtos com estoque crítico.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68880" y="3282696"/>
            <a:ext cx="3017520" cy="384048"/>
          </a:xfrm>
          <a:prstGeom prst="roundRect">
            <a:avLst>
              <a:gd name="adj" fmla="val 33333"/>
            </a:avLst>
          </a:prstGeom>
          <a:solidFill>
            <a:srgbClr val="236BFF"/>
          </a:solidFill>
          <a:ln w="9525">
            <a:solidFill>
              <a:srgbClr val="B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2606040" y="3282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precisa da minha atenção?</a:t>
            </a:r>
            <a:endParaRPr lang="en-US" sz="1200" dirty="0"/>
          </a:p>
        </p:txBody>
      </p:sp>
      <p:pic>
        <p:nvPicPr>
          <p:cNvPr id="15" name="Image 2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40480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8680" y="3758184"/>
            <a:ext cx="3657600" cy="530352"/>
          </a:xfrm>
          <a:prstGeom prst="roundRect">
            <a:avLst>
              <a:gd name="adj" fmla="val 24138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 txBox="1"/>
          <p:nvPr/>
        </p:nvSpPr>
        <p:spPr>
          <a:xfrm>
            <a:off x="1005840" y="37581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Comece pelos produtos com estoque crítico.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Alertas de estoque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510528" y="2313432"/>
            <a:ext cx="2249424" cy="1936865"/>
          </a:xfrm>
          <a:prstGeom prst="roundRect">
            <a:avLst>
              <a:gd name="adj" fmla="val 3777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assets/ale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340864"/>
            <a:ext cx="2194560" cy="188200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7960" y="4314305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estoque = sem venda.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11480" y="4709160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FFB648">
              <a:alpha val="20000"/>
            </a:srgbClr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 txBox="1"/>
          <p:nvPr/>
        </p:nvSpPr>
        <p:spPr>
          <a:xfrm>
            <a:off x="411480" y="4709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DE EXEMPLO · PROTÓTIPO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3200400" y="466344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Hoje, o chat usa respostas de exemplo. O assistente inteligente é a próxima etapa.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AO TAYLOR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 de procurar. Pergunte.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11480" y="1783080"/>
            <a:ext cx="3931920" cy="2514600"/>
          </a:xfrm>
          <a:prstGeom prst="roundRect">
            <a:avLst>
              <a:gd name="adj" fmla="val 4364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94360" y="19202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5672">
              <a:alpha val="20000"/>
            </a:srgbClr>
          </a:solidFill>
          <a:ln w="9525">
            <a:solidFill>
              <a:srgbClr val="FF56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94360" y="19202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5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“Preciso descobrir quantos pedidos estão pendentes.”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88036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59436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telas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3209544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594360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Procurar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3538728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59436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" y="3867912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594360" y="3867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3774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 minutos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56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busca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17720" y="1783080"/>
            <a:ext cx="4114800" cy="2514600"/>
          </a:xfrm>
          <a:prstGeom prst="roundRect">
            <a:avLst>
              <a:gd name="adj" fmla="val 4364"/>
            </a:avLst>
          </a:prstGeom>
          <a:solidFill>
            <a:srgbClr val="0B244D"/>
          </a:solidFill>
          <a:ln w="9525">
            <a:solidFill>
              <a:srgbClr val="36DB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800600" y="192024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36DB9B">
              <a:alpha val="20000"/>
            </a:srgbClr>
          </a:solidFill>
          <a:ln w="9525">
            <a:solidFill>
              <a:srgbClr val="36DB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4800600" y="19202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6DB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394960" y="2286000"/>
            <a:ext cx="3154680" cy="457200"/>
          </a:xfrm>
          <a:prstGeom prst="roundRect">
            <a:avLst>
              <a:gd name="adj" fmla="val 28000"/>
            </a:avLst>
          </a:prstGeom>
          <a:solidFill>
            <a:srgbClr val="236BFF"/>
          </a:solidFill>
          <a:ln w="9525">
            <a:solidFill>
              <a:srgbClr val="B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553212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Quantos pedidos estão pendentes?</a:t>
            </a:r>
            <a:endParaRPr lang="en-US" sz="1200" dirty="0"/>
          </a:p>
        </p:txBody>
      </p:sp>
      <p:pic>
        <p:nvPicPr>
          <p:cNvPr id="25" name="Image 1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26080"/>
            <a:ext cx="457200" cy="4572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349240" y="2880360"/>
            <a:ext cx="3200400" cy="548640"/>
          </a:xfrm>
          <a:prstGeom prst="roundRect">
            <a:avLst>
              <a:gd name="adj" fmla="val 23333"/>
            </a:avLst>
          </a:prstGeom>
          <a:solidFill>
            <a:srgbClr val="0D2B5D"/>
          </a:solidFill>
          <a:ln w="12700">
            <a:solidFill>
              <a:srgbClr val="36DB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 txBox="1"/>
          <p:nvPr/>
        </p:nvSpPr>
        <p:spPr>
          <a:xfrm>
            <a:off x="548640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possui 12 pedidos pendentes.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480060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DB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em segundos.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4370832" y="3035808"/>
            <a:ext cx="219456" cy="0"/>
          </a:xfrm>
          <a:prstGeom prst="line">
            <a:avLst/>
          </a:prstGeom>
          <a:noFill/>
          <a:ln w="19050">
            <a:solidFill>
              <a:srgbClr val="B9DEF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6"/>
          <p:cNvSpPr txBox="1"/>
          <p:nvPr/>
        </p:nvSpPr>
        <p:spPr>
          <a:xfrm>
            <a:off x="41148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ONDE ESTIVER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788920" y="4462272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0D2B5D"/>
          </a:solidFill>
          <a:ln w="9525">
            <a:solidFill>
              <a:srgbClr val="36DB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8"/>
          <p:cNvSpPr txBox="1"/>
          <p:nvPr/>
        </p:nvSpPr>
        <p:spPr>
          <a:xfrm>
            <a:off x="2788920" y="4462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DB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painel · hoje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480560" y="4462272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061631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0"/>
          <p:cNvSpPr txBox="1"/>
          <p:nvPr/>
        </p:nvSpPr>
        <p:spPr>
          <a:xfrm>
            <a:off x="4480560" y="4462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voz · em breve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172200" y="4462272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061631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2"/>
          <p:cNvSpPr txBox="1"/>
          <p:nvPr/>
        </p:nvSpPr>
        <p:spPr>
          <a:xfrm>
            <a:off x="6172200" y="44622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Telegram · em breve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8183880" y="4507992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FFB648">
              <a:alpha val="20000"/>
            </a:srgbClr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4"/>
          <p:cNvSpPr txBox="1"/>
          <p:nvPr/>
        </p:nvSpPr>
        <p:spPr>
          <a:xfrm>
            <a:off x="8183880" y="45079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307"/>
          <p:cNvSpPr txBox="1"/>
          <p:nvPr/>
        </p:nvSpPr>
        <p:spPr>
          <a:xfrm>
            <a:off x="914400" y="1371600"/>
            <a:ext cx="73152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6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ao vivo do Taylor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NEGÓCIO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98755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 mensal, feita para o lojista multicanal.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78308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4114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LOJISTA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00200" y="2295144"/>
            <a:ext cx="0" cy="182880"/>
          </a:xfrm>
          <a:prstGeom prst="line">
            <a:avLst/>
          </a:prstGeom>
          <a:noFill/>
          <a:ln w="19050">
            <a:solidFill>
              <a:srgbClr val="B9DEF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11480" y="2532888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411480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600200" y="3044952"/>
            <a:ext cx="0" cy="182880"/>
          </a:xfrm>
          <a:prstGeom prst="line">
            <a:avLst/>
          </a:prstGeom>
          <a:noFill/>
          <a:ln w="19050">
            <a:solidFill>
              <a:srgbClr val="B9DEF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11480" y="3282696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236BFF"/>
          </a:solidFill>
          <a:ln w="9525">
            <a:solidFill>
              <a:srgbClr val="B9D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411480" y="32826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600200" y="3794760"/>
            <a:ext cx="0" cy="182880"/>
          </a:xfrm>
          <a:prstGeom prst="line">
            <a:avLst/>
          </a:prstGeom>
          <a:noFill/>
          <a:ln w="19050">
            <a:solidFill>
              <a:srgbClr val="B9DEF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11480" y="4032504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411480" y="40325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MULTICANAL</a:t>
            </a:r>
            <a:endParaRPr lang="en-US" sz="1200" dirty="0"/>
          </a:p>
        </p:txBody>
      </p:sp>
      <p:sp>
        <p:nvSpPr>
          <p:cNvPr id="308" name="Shape 308"/>
          <p:cNvSpPr/>
          <p:nvPr/>
        </p:nvSpPr>
        <p:spPr>
          <a:xfrm>
            <a:off x="3200400" y="1783080"/>
            <a:ext cx="5532120" cy="868680"/>
          </a:xfrm>
          <a:prstGeom prst="roundRect">
            <a:avLst>
              <a:gd name="adj" fmla="val 6000"/>
            </a:avLst>
          </a:prstGeom>
          <a:solidFill>
            <a:srgbClr val="0B244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9" name="Shape 309"/>
          <p:cNvSpPr/>
          <p:nvPr/>
        </p:nvSpPr>
        <p:spPr>
          <a:xfrm>
            <a:off x="3383280" y="191109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236BFF">
              <a:alpha val="20000"/>
            </a:srgbClr>
          </a:solidFill>
          <a:ln w="9525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0" name="Text 310"/>
          <p:cNvSpPr txBox="1"/>
          <p:nvPr/>
        </p:nvSpPr>
        <p:spPr>
          <a:xfrm>
            <a:off x="3383280" y="1911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b="1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BÁSICO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338328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R$ 50</a:t>
            </a:r>
            <a:r>
              <a:rPr lang="pt-BR" sz="14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6080760" y="1911096"/>
            <a:ext cx="24688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4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 2 marketplaces</a:t>
            </a:r>
          </a:p>
          <a:p>
            <a:pPr marL="0" indent="0" algn="r">
              <a:buNone/>
            </a:pPr>
            <a:r>
              <a:rPr lang="pt-BR" sz="11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plataforma</a:t>
            </a:r>
          </a:p>
        </p:txBody>
      </p:sp>
      <p:sp>
        <p:nvSpPr>
          <p:cNvPr id="313" name="Shape 313"/>
          <p:cNvSpPr/>
          <p:nvPr/>
        </p:nvSpPr>
        <p:spPr>
          <a:xfrm>
            <a:off x="3200400" y="2743200"/>
            <a:ext cx="5532120" cy="1874520"/>
          </a:xfrm>
          <a:prstGeom prst="roundRect">
            <a:avLst>
              <a:gd name="adj" fmla="val 3871"/>
            </a:avLst>
          </a:prstGeom>
          <a:solidFill>
            <a:srgbClr val="0B244D"/>
          </a:solidFill>
          <a:ln w="9525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4" name="Shape 314"/>
          <p:cNvSpPr/>
          <p:nvPr/>
        </p:nvSpPr>
        <p:spPr>
          <a:xfrm>
            <a:off x="3383280" y="2871216"/>
            <a:ext cx="2651760" cy="219456"/>
          </a:xfrm>
          <a:prstGeom prst="roundRect">
            <a:avLst>
              <a:gd name="adj" fmla="val 50000"/>
            </a:avLst>
          </a:prstGeom>
          <a:solidFill>
            <a:srgbClr val="236BFF">
              <a:alpha val="20000"/>
            </a:srgbClr>
          </a:solidFill>
          <a:ln w="9525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5" name="Text 315"/>
          <p:cNvSpPr txBox="1"/>
          <p:nvPr/>
        </p:nvSpPr>
        <p:spPr>
          <a:xfrm>
            <a:off x="3383280" y="2871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b="1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PRÓ · PREVISTO NO PRODUTO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3383280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40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R$ 200</a:t>
            </a:r>
            <a:r>
              <a:rPr lang="pt-BR" sz="16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6263640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2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partir de 2</a:t>
            </a:r>
          </a:p>
          <a:p>
            <a:pPr marL="0" indent="0" algn="r">
              <a:buNone/>
            </a:pPr>
            <a:r>
              <a:rPr lang="pt-BR" sz="12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 5 marketplaces</a:t>
            </a:r>
          </a:p>
        </p:txBody>
      </p:sp>
      <p:sp>
        <p:nvSpPr>
          <p:cNvPr id="318" name="Shape 318"/>
          <p:cNvSpPr/>
          <p:nvPr/>
        </p:nvSpPr>
        <p:spPr>
          <a:xfrm>
            <a:off x="3383280" y="3822192"/>
            <a:ext cx="960120" cy="694944"/>
          </a:xfrm>
          <a:prstGeom prst="roundRect">
            <a:avLst>
              <a:gd name="adj" fmla="val 9524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9" name="Text 319"/>
          <p:cNvSpPr txBox="1"/>
          <p:nvPr/>
        </p:nvSpPr>
        <p:spPr>
          <a:xfrm>
            <a:off x="3383280" y="3877056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5.000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3383280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</a:p>
        </p:txBody>
      </p:sp>
      <p:sp>
        <p:nvSpPr>
          <p:cNvPr id="321" name="Shape 321"/>
          <p:cNvSpPr/>
          <p:nvPr/>
        </p:nvSpPr>
        <p:spPr>
          <a:xfrm>
            <a:off x="4425696" y="3822192"/>
            <a:ext cx="960120" cy="694944"/>
          </a:xfrm>
          <a:prstGeom prst="roundRect">
            <a:avLst>
              <a:gd name="adj" fmla="val 9524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2" name="Text 322"/>
          <p:cNvSpPr txBox="1"/>
          <p:nvPr/>
        </p:nvSpPr>
        <p:spPr>
          <a:xfrm>
            <a:off x="4425696" y="3877056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2.000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4425696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</a:t>
            </a:r>
          </a:p>
        </p:txBody>
      </p:sp>
      <p:sp>
        <p:nvSpPr>
          <p:cNvPr id="324" name="Shape 324"/>
          <p:cNvSpPr/>
          <p:nvPr/>
        </p:nvSpPr>
        <p:spPr>
          <a:xfrm>
            <a:off x="5468112" y="3822192"/>
            <a:ext cx="960120" cy="694944"/>
          </a:xfrm>
          <a:prstGeom prst="roundRect">
            <a:avLst>
              <a:gd name="adj" fmla="val 9524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5" name="Text 325"/>
          <p:cNvSpPr txBox="1"/>
          <p:nvPr/>
        </p:nvSpPr>
        <p:spPr>
          <a:xfrm>
            <a:off x="5468112" y="3877056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5468112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marketplaces</a:t>
            </a:r>
          </a:p>
        </p:txBody>
      </p:sp>
      <p:sp>
        <p:nvSpPr>
          <p:cNvPr id="327" name="Shape 327"/>
          <p:cNvSpPr/>
          <p:nvPr/>
        </p:nvSpPr>
        <p:spPr>
          <a:xfrm>
            <a:off x="6510528" y="3822192"/>
            <a:ext cx="960120" cy="694944"/>
          </a:xfrm>
          <a:prstGeom prst="roundRect">
            <a:avLst>
              <a:gd name="adj" fmla="val 9524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8" name="Text 328"/>
          <p:cNvSpPr txBox="1"/>
          <p:nvPr/>
        </p:nvSpPr>
        <p:spPr>
          <a:xfrm>
            <a:off x="6510528" y="3877056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6510528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usuários</a:t>
            </a:r>
          </a:p>
        </p:txBody>
      </p:sp>
      <p:sp>
        <p:nvSpPr>
          <p:cNvPr id="330" name="Shape 330"/>
          <p:cNvSpPr/>
          <p:nvPr/>
        </p:nvSpPr>
        <p:spPr>
          <a:xfrm>
            <a:off x="7552944" y="3822192"/>
            <a:ext cx="960120" cy="694944"/>
          </a:xfrm>
          <a:prstGeom prst="roundRect">
            <a:avLst>
              <a:gd name="adj" fmla="val 9524"/>
            </a:avLst>
          </a:prstGeom>
          <a:solidFill>
            <a:srgbClr val="0D2B5D"/>
          </a:solidFill>
          <a:ln w="9525">
            <a:solidFill>
              <a:srgbClr val="2746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1" name="Text 331"/>
          <p:cNvSpPr txBox="1"/>
          <p:nvPr/>
        </p:nvSpPr>
        <p:spPr>
          <a:xfrm>
            <a:off x="7552944" y="3877056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3.000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7552944" y="42245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b="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NF-e</a:t>
            </a:r>
          </a:p>
        </p:txBody>
      </p:sp>
      <p:sp>
        <p:nvSpPr>
          <p:cNvPr id="38" name="Text 35"/>
          <p:cNvSpPr txBox="1"/>
          <p:nvPr/>
        </p:nvSpPr>
        <p:spPr>
          <a:xfrm>
            <a:off x="411480" y="46908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previsto no produto. Ainda sem receita comprovada.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"/>
            <a:ext cx="347472" cy="3474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680960" y="256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· VISÃO DE FUTURO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98755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protótipo a plataforma completa de operação multicanal.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9659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36DB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548640" y="2039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DB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15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Protótipo funcional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50008" y="2560320"/>
            <a:ext cx="173736" cy="0"/>
          </a:xfrm>
          <a:prstGeom prst="line">
            <a:avLst/>
          </a:prstGeom>
          <a:noFill/>
          <a:ln w="19050">
            <a:solidFill>
              <a:srgbClr val="9CB0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2544775" y="19659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2681935" y="2039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681935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Canais reais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681935" y="2715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· Shopee · Magalu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83303" y="2560320"/>
            <a:ext cx="173736" cy="0"/>
          </a:xfrm>
          <a:prstGeom prst="line">
            <a:avLst/>
          </a:prstGeom>
          <a:noFill/>
          <a:ln w="19050">
            <a:solidFill>
              <a:srgbClr val="9CB0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678070" y="19659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236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4815230" y="2039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6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81523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da loja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15230" y="2715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em um só lugar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16598" y="2560320"/>
            <a:ext cx="173736" cy="0"/>
          </a:xfrm>
          <a:prstGeom prst="line">
            <a:avLst/>
          </a:prstGeom>
          <a:noFill/>
          <a:ln w="19050">
            <a:solidFill>
              <a:srgbClr val="9CB0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811366" y="19659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6948526" y="2039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948526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48526" y="2715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sobre a loja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5661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548640" y="3639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Voz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315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Pergunte falando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350008" y="4160520"/>
            <a:ext cx="173736" cy="0"/>
          </a:xfrm>
          <a:prstGeom prst="line">
            <a:avLst/>
          </a:prstGeom>
          <a:noFill/>
          <a:ln w="19050">
            <a:solidFill>
              <a:srgbClr val="9CB0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2544775" y="35661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FFB6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 txBox="1"/>
          <p:nvPr/>
        </p:nvSpPr>
        <p:spPr>
          <a:xfrm>
            <a:off x="2681935" y="3639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681935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681935" y="4315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no celular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483303" y="4160520"/>
            <a:ext cx="173736" cy="0"/>
          </a:xfrm>
          <a:prstGeom prst="line">
            <a:avLst/>
          </a:prstGeom>
          <a:noFill/>
          <a:ln w="19050">
            <a:solidFill>
              <a:srgbClr val="9CB0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4678070" y="35661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3F3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 txBox="1"/>
          <p:nvPr/>
        </p:nvSpPr>
        <p:spPr>
          <a:xfrm>
            <a:off x="4815230" y="3639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81523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815230" y="4315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tarefas manuais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616598" y="4160520"/>
            <a:ext cx="173736" cy="0"/>
          </a:xfrm>
          <a:prstGeom prst="line">
            <a:avLst/>
          </a:prstGeom>
          <a:noFill/>
          <a:ln w="19050">
            <a:solidFill>
              <a:srgbClr val="9CB0D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6811366" y="35661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0B244D"/>
          </a:solidFill>
          <a:ln w="9525">
            <a:solidFill>
              <a:srgbClr val="3F3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 txBox="1"/>
          <p:nvPr/>
        </p:nvSpPr>
        <p:spPr>
          <a:xfrm>
            <a:off x="6948526" y="3639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948526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948526" y="4315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canais e lojistas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029200" y="484632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B0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indicativo, sem prazos prometidos.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ckathonicos-main/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308" y="4343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-1577340" y="1505244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caos.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operação.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crescimento.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-1723292" y="35942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TAYLOR · Seu comércio, sem fronteiras.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8388" y="4114800"/>
            <a:ext cx="4206240" cy="594360"/>
          </a:xfrm>
          <a:prstGeom prst="roundRect">
            <a:avLst>
              <a:gd name="adj" fmla="val 18462"/>
            </a:avLst>
          </a:prstGeom>
          <a:solidFill>
            <a:srgbClr val="236BFF"/>
          </a:solidFill>
          <a:ln w="9525">
            <a:solidFill>
              <a:srgbClr val="B9DE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3"/>
          <p:cNvSpPr txBox="1"/>
          <p:nvPr/>
        </p:nvSpPr>
        <p:spPr>
          <a:xfrm>
            <a:off x="288388" y="4114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transformar a operação multicanal?</a:t>
            </a:r>
            <a:endParaRPr lang="en-US" sz="125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F5F388A-0451-736A-6ACA-886E06292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474" y="682722"/>
            <a:ext cx="3778055" cy="3778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784</Words>
  <Application>Microsoft Office PowerPoint</Application>
  <PresentationFormat>Apresentação na tela (16:9)</PresentationFormat>
  <Paragraphs>178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Taylor — Pitch Hackathon</dc:title>
  <dc:subject>PptxGenJS Presentation</dc:subject>
  <dc:creator>PptxGenJS</dc:creator>
  <cp:lastModifiedBy>ISABELA BARBOSA PEREIRA</cp:lastModifiedBy>
  <cp:revision>2</cp:revision>
  <dcterms:created xsi:type="dcterms:W3CDTF">2026-09-30T09:13:26Z</dcterms:created>
  <dcterms:modified xsi:type="dcterms:W3CDTF">2026-09-30T22:39:55Z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2026-09-30T22:21:56Z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fef5e47e-9ba5-498b-a46c-05273c7f929c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